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71E37"/>
                </a:solidFill>
                <a:latin typeface="Aptos"/>
              </a:rPr>
              <a:t>How to Use This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55F69"/>
                </a:solidFill>
                <a:latin typeface="Aptos"/>
              </a:rPr>
              <a:t>Use this as a suggested structure. Replace the bracketed text with your own content.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984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555F69"/>
                </a:solidFill>
                <a:latin typeface="Aptos"/>
              </a:defRPr>
            </a:pPr>
            <a:r>
              <a:rPr dirty="0"/>
              <a:t>• Keep the presentation focused on one meaningful real-world problem.</a:t>
            </a:r>
          </a:p>
          <a:p>
            <a:pPr>
              <a:spcAft>
                <a:spcPts val="1000"/>
              </a:spcAft>
              <a:defRPr sz="2100">
                <a:solidFill>
                  <a:srgbClr val="555F69"/>
                </a:solidFill>
                <a:latin typeface="Aptos"/>
              </a:defRPr>
            </a:pPr>
            <a:r>
              <a:rPr dirty="0"/>
              <a:t>• Explain your proposed solution clearly and show what makes it innovative.</a:t>
            </a:r>
          </a:p>
          <a:p>
            <a:pPr>
              <a:spcAft>
                <a:spcPts val="1000"/>
              </a:spcAft>
              <a:defRPr sz="2100">
                <a:solidFill>
                  <a:srgbClr val="555F69"/>
                </a:solidFill>
                <a:latin typeface="Aptos"/>
              </a:defRPr>
            </a:pPr>
            <a:r>
              <a:rPr dirty="0"/>
              <a:t>• Cover feasibility and expected impact.</a:t>
            </a:r>
          </a:p>
          <a:p>
            <a:pPr>
              <a:spcAft>
                <a:spcPts val="1000"/>
              </a:spcAft>
              <a:defRPr sz="2100">
                <a:solidFill>
                  <a:srgbClr val="555F69"/>
                </a:solidFill>
                <a:latin typeface="Aptos"/>
              </a:defRPr>
            </a:pPr>
            <a:r>
              <a:rPr dirty="0"/>
              <a:t>• Each team gets 1</a:t>
            </a:r>
            <a:r>
              <a:rPr lang="en-US" dirty="0"/>
              <a:t>0(7 +3)</a:t>
            </a:r>
            <a:r>
              <a:rPr dirty="0"/>
              <a:t> minutes for presentation</a:t>
            </a:r>
            <a:r>
              <a:rPr lang="en-US" dirty="0"/>
              <a:t>(7 min )</a:t>
            </a:r>
            <a:r>
              <a:rPr dirty="0"/>
              <a:t>, followed by judges’ Q&amp;A</a:t>
            </a:r>
            <a:r>
              <a:rPr lang="en-US" dirty="0"/>
              <a:t>(3 min )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100">
                <a:solidFill>
                  <a:srgbClr val="555F69"/>
                </a:solidFill>
                <a:latin typeface="Aptos"/>
              </a:defRPr>
            </a:pPr>
            <a:r>
              <a:rPr dirty="0"/>
              <a:t>• No </a:t>
            </a:r>
            <a:r>
              <a:rPr lang="en-US" dirty="0"/>
              <a:t>100% </a:t>
            </a:r>
            <a:r>
              <a:rPr dirty="0"/>
              <a:t>working prototype is required</a:t>
            </a:r>
            <a:r>
              <a:rPr lang="en-US" dirty="0"/>
              <a:t> but bring demo something to show practically </a:t>
            </a:r>
            <a:r>
              <a:rPr dirty="0"/>
              <a:t>.</a:t>
            </a:r>
            <a:endParaRPr lang="en-US" dirty="0"/>
          </a:p>
          <a:p>
            <a:pPr>
              <a:spcAft>
                <a:spcPts val="1000"/>
              </a:spcAft>
              <a:defRPr sz="2100">
                <a:solidFill>
                  <a:srgbClr val="555F69"/>
                </a:solidFill>
                <a:latin typeface="Aptos"/>
              </a:defRPr>
            </a:pPr>
            <a:r>
              <a:rPr lang="en-US" dirty="0"/>
              <a:t>Add any theme </a:t>
            </a:r>
            <a:r>
              <a:rPr lang="en-US" dirty="0" err="1"/>
              <a:t>etc</a:t>
            </a:r>
            <a:r>
              <a:rPr lang="en-US" dirty="0"/>
              <a:t> it's your choice .there is no restriction son that …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555F69"/>
                </a:solidFill>
                <a:latin typeface="Aptos"/>
              </a:defRPr>
            </a:pPr>
            <a:r>
              <a:rPr lang="en-US" dirty="0">
                <a:highlight>
                  <a:srgbClr val="00FF00"/>
                </a:highlight>
              </a:rPr>
              <a:t>This ppt is for reference you can change the contents . But title of the slide should remain same 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555F69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1000"/>
              </a:spcAft>
              <a:defRPr sz="2100">
                <a:solidFill>
                  <a:srgbClr val="555F69"/>
                </a:solidFill>
                <a:latin typeface="Aptos"/>
              </a:defRPr>
            </a:pPr>
            <a:endParaRPr lang="en-US" dirty="0"/>
          </a:p>
          <a:p>
            <a:pPr algn="ctr">
              <a:spcAft>
                <a:spcPts val="1000"/>
              </a:spcAft>
              <a:defRPr sz="2100">
                <a:solidFill>
                  <a:srgbClr val="555F69"/>
                </a:solidFill>
                <a:latin typeface="Aptos"/>
              </a:defRPr>
            </a:pPr>
            <a:r>
              <a:rPr lang="en-US" dirty="0">
                <a:solidFill>
                  <a:srgbClr val="FFFF00"/>
                </a:solidFill>
                <a:highlight>
                  <a:srgbClr val="FF0000"/>
                </a:highlight>
              </a:rPr>
              <a:t>NOTE: DON’T MAKE THIS  AN PPT PRESENTATION ……</a:t>
            </a:r>
            <a:endParaRPr dirty="0">
              <a:solidFill>
                <a:srgbClr val="FFFF00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kit_dark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12" y="219943"/>
            <a:ext cx="2389321" cy="1615636"/>
          </a:xfrm>
          <a:prstGeom prst="rect">
            <a:avLst/>
          </a:prstGeom>
        </p:spPr>
      </p:pic>
      <p:pic>
        <p:nvPicPr>
          <p:cNvPr id="13" name="Picture 12" descr="synopsys_dark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752" y="295462"/>
            <a:ext cx="2948587" cy="10559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 descr="anveshana_dark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2957" y="306609"/>
            <a:ext cx="2750935" cy="94704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28487" y="2071251"/>
            <a:ext cx="6864442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>
              <a:defRPr sz="1500" b="1">
                <a:solidFill>
                  <a:srgbClr val="00D6FF"/>
                </a:solidFill>
                <a:latin typeface="Aptos"/>
              </a:defRPr>
            </a:pPr>
            <a:r>
              <a:rPr sz="4000" b="1" dirty="0">
                <a:ln/>
                <a:solidFill>
                  <a:schemeClr val="accent3"/>
                </a:solidFill>
              </a:rPr>
              <a:t>BKIT INNOVATION IDEATHON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455" y="4157767"/>
            <a:ext cx="6537960" cy="1750339"/>
          </a:xfrm>
          <a:prstGeom prst="roundRect">
            <a:avLst/>
          </a:prstGeom>
          <a:solidFill>
            <a:srgbClr val="091623"/>
          </a:solidFill>
          <a:ln w="12700">
            <a:solidFill>
              <a:srgbClr val="173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412748" y="4255491"/>
            <a:ext cx="69494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5FC"/>
                </a:solidFill>
                <a:latin typeface="Aptos Display"/>
              </a:defRPr>
            </a:pPr>
            <a:r>
              <a:rPr dirty="0"/>
              <a:t>TRINETRA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25187" y="4996570"/>
            <a:ext cx="603504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D6FF"/>
                </a:solidFill>
                <a:latin typeface="Nirmala UI"/>
              </a:defRPr>
            </a:pPr>
            <a:r>
              <a:rPr dirty="0"/>
              <a:t>“</a:t>
            </a:r>
            <a:r>
              <a:rPr dirty="0" err="1"/>
              <a:t>तीन</a:t>
            </a:r>
            <a:r>
              <a:rPr dirty="0"/>
              <a:t> </a:t>
            </a:r>
            <a:r>
              <a:rPr dirty="0" err="1"/>
              <a:t>दृष्टि</a:t>
            </a:r>
            <a:r>
              <a:rPr dirty="0"/>
              <a:t>, </a:t>
            </a:r>
            <a:r>
              <a:rPr dirty="0" err="1"/>
              <a:t>एक</a:t>
            </a:r>
            <a:r>
              <a:rPr dirty="0"/>
              <a:t> </a:t>
            </a:r>
            <a:r>
              <a:rPr dirty="0" err="1"/>
              <a:t>सुरक्षा</a:t>
            </a:r>
            <a:r>
              <a:rPr dirty="0"/>
              <a:t>”</a:t>
            </a:r>
          </a:p>
          <a:p>
            <a:pPr algn="ctr">
              <a:defRPr sz="1100" b="1">
                <a:solidFill>
                  <a:srgbClr val="7E9BB5"/>
                </a:solidFill>
                <a:latin typeface="Aptos"/>
              </a:defRPr>
            </a:pPr>
            <a:r>
              <a:rPr dirty="0"/>
              <a:t>THREE EYES. ONE SHIELD.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0709" y="3465298"/>
            <a:ext cx="3993184" cy="3174983"/>
          </a:xfrm>
          <a:prstGeom prst="roundRect">
            <a:avLst/>
          </a:prstGeom>
          <a:solidFill>
            <a:srgbClr val="091623"/>
          </a:solidFill>
          <a:ln w="12700">
            <a:solidFill>
              <a:srgbClr val="18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9007997" y="3664308"/>
            <a:ext cx="176650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B11C"/>
                </a:solidFill>
                <a:latin typeface="Aptos"/>
              </a:defRPr>
            </a:pPr>
            <a:r>
              <a:rPr sz="1600" dirty="0"/>
              <a:t>TEAM : TRINETRA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0271" y="4210426"/>
            <a:ext cx="3658840" cy="1746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EFF5FC"/>
                </a:solidFill>
                <a:latin typeface="Aptos"/>
              </a:defRPr>
            </a:pPr>
            <a:r>
              <a:rPr sz="2000" dirty="0"/>
              <a:t>Avinash Thakur — 3RB23CY011</a:t>
            </a:r>
          </a:p>
          <a:p>
            <a:pPr>
              <a:spcAft>
                <a:spcPts val="1100"/>
              </a:spcAft>
              <a:defRPr sz="1200">
                <a:solidFill>
                  <a:srgbClr val="EFF5FC"/>
                </a:solidFill>
                <a:latin typeface="Aptos"/>
              </a:defRPr>
            </a:pPr>
            <a:r>
              <a:rPr sz="2000" dirty="0"/>
              <a:t>Ranjeeta — 3RB23CY042</a:t>
            </a:r>
          </a:p>
          <a:p>
            <a:pPr>
              <a:spcAft>
                <a:spcPts val="1100"/>
              </a:spcAft>
              <a:defRPr sz="1200">
                <a:solidFill>
                  <a:srgbClr val="EFF5FC"/>
                </a:solidFill>
                <a:latin typeface="Aptos"/>
              </a:defRPr>
            </a:pPr>
            <a:r>
              <a:rPr sz="2000" dirty="0"/>
              <a:t>Sanchita Tiwari — 3RB25CI040</a:t>
            </a:r>
          </a:p>
          <a:p>
            <a:pPr>
              <a:spcAft>
                <a:spcPts val="1100"/>
              </a:spcAft>
              <a:defRPr sz="1200">
                <a:solidFill>
                  <a:srgbClr val="EFF5FC"/>
                </a:solidFill>
                <a:latin typeface="Aptos"/>
              </a:defRPr>
            </a:pPr>
            <a:r>
              <a:rPr sz="2000" dirty="0"/>
              <a:t>Pratiksha Tiwari — 3RB25CI034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0731E1-D63A-4CAE-F186-DAB06BAABE8A}"/>
              </a:ext>
            </a:extLst>
          </p:cNvPr>
          <p:cNvSpPr txBox="1"/>
          <p:nvPr/>
        </p:nvSpPr>
        <p:spPr>
          <a:xfrm>
            <a:off x="3271093" y="2670061"/>
            <a:ext cx="867280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ln/>
                <a:solidFill>
                  <a:schemeClr val="accent4"/>
                </a:solidFill>
                <a:latin typeface="Aptos"/>
              </a:rPr>
              <a:t>Designing Tomorrow’s Intelligent Ecosystems: Connecting People, Machines, and the Planet</a:t>
            </a:r>
            <a:r>
              <a:rPr lang="en-US" sz="2300" b="1" dirty="0">
                <a:ln/>
                <a:solidFill>
                  <a:schemeClr val="accent4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08634" y="1917194"/>
            <a:ext cx="6556795" cy="70788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l"/>
            <a:r>
              <a:rPr lang="en-US" sz="4000" b="1" dirty="0">
                <a:solidFill>
                  <a:srgbClr val="071E37"/>
                </a:solidFill>
                <a:latin typeface="Aptos"/>
              </a:rPr>
              <a:t>BKIT</a:t>
            </a:r>
            <a:r>
              <a:rPr sz="4000" b="1" dirty="0">
                <a:solidFill>
                  <a:srgbClr val="071E37"/>
                </a:solidFill>
                <a:latin typeface="Aptos"/>
              </a:rPr>
              <a:t> </a:t>
            </a:r>
            <a:r>
              <a:rPr lang="en-US" sz="4000" b="1" dirty="0">
                <a:solidFill>
                  <a:srgbClr val="071E37"/>
                </a:solidFill>
                <a:latin typeface="Aptos"/>
              </a:rPr>
              <a:t>INOVATION </a:t>
            </a:r>
            <a:r>
              <a:rPr sz="4000" b="1" dirty="0">
                <a:solidFill>
                  <a:srgbClr val="071E37"/>
                </a:solidFill>
                <a:latin typeface="Aptos"/>
              </a:rPr>
              <a:t>IDEATHON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8634" y="2658740"/>
            <a:ext cx="8917954" cy="115416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l"/>
            <a:r>
              <a:rPr sz="2300" b="1" dirty="0">
                <a:ln/>
                <a:solidFill>
                  <a:schemeClr val="accent4"/>
                </a:solidFill>
                <a:latin typeface="Aptos"/>
              </a:rPr>
              <a:t>Designing Tomorrow’s Intelligent Ecosystems:</a:t>
            </a:r>
            <a:r>
              <a:rPr lang="en-US" sz="2300" b="1" dirty="0">
                <a:ln/>
                <a:solidFill>
                  <a:schemeClr val="accent4"/>
                </a:solidFill>
                <a:latin typeface="Aptos"/>
              </a:rPr>
              <a:t> Connecting People, Machines, and the Planet.</a:t>
            </a:r>
          </a:p>
          <a:p>
            <a:pPr algn="l"/>
            <a:endParaRPr sz="2300" b="1" dirty="0">
              <a:ln/>
              <a:solidFill>
                <a:schemeClr val="accent4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108205" y="3691882"/>
            <a:ext cx="5403640" cy="685800"/>
          </a:xfrm>
          <a:prstGeom prst="round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7896" y="3844076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Aptos"/>
              </a:rPr>
              <a:t>PARTICIPANT PRESENTATION TEMPLATE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5AC31B-97E9-8DD5-5736-A6991F757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16" y="268285"/>
            <a:ext cx="1419577" cy="18177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D7556C0-E3C8-6D0B-E17C-B7FB4A4EF5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48" r="11275"/>
          <a:stretch>
            <a:fillRect/>
          </a:stretch>
        </p:blipFill>
        <p:spPr>
          <a:xfrm>
            <a:off x="9183326" y="215835"/>
            <a:ext cx="3008674" cy="13326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E27E59C-7B2B-AE7F-C89D-51ED5C315495}"/>
              </a:ext>
            </a:extLst>
          </p:cNvPr>
          <p:cNvSpPr txBox="1"/>
          <p:nvPr/>
        </p:nvSpPr>
        <p:spPr>
          <a:xfrm>
            <a:off x="9514676" y="4960668"/>
            <a:ext cx="2598666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555F69"/>
                </a:solidFill>
                <a:latin typeface="Aptos"/>
              </a:defRPr>
            </a:pPr>
            <a:r>
              <a:rPr dirty="0"/>
              <a:t>• [Member 1]</a:t>
            </a:r>
          </a:p>
          <a:p>
            <a:pPr>
              <a:spcAft>
                <a:spcPts val="1000"/>
              </a:spcAft>
              <a:defRPr sz="1900">
                <a:solidFill>
                  <a:srgbClr val="555F69"/>
                </a:solidFill>
                <a:latin typeface="Aptos"/>
              </a:defRPr>
            </a:pPr>
            <a:r>
              <a:rPr dirty="0"/>
              <a:t>• [Member 2]</a:t>
            </a:r>
          </a:p>
          <a:p>
            <a:pPr>
              <a:spcAft>
                <a:spcPts val="1000"/>
              </a:spcAft>
              <a:defRPr sz="1900">
                <a:solidFill>
                  <a:srgbClr val="555F69"/>
                </a:solidFill>
                <a:latin typeface="Aptos"/>
              </a:defRPr>
            </a:pPr>
            <a:r>
              <a:rPr dirty="0"/>
              <a:t>• [Member 3]</a:t>
            </a:r>
          </a:p>
          <a:p>
            <a:pPr>
              <a:spcAft>
                <a:spcPts val="1000"/>
              </a:spcAft>
              <a:defRPr sz="1900">
                <a:solidFill>
                  <a:srgbClr val="555F69"/>
                </a:solidFill>
                <a:latin typeface="Aptos"/>
              </a:defRPr>
            </a:pPr>
            <a:r>
              <a:rPr dirty="0"/>
              <a:t>• [Member 4]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8DC0EE-E42C-D14C-0D11-F8C094020CE9}"/>
              </a:ext>
            </a:extLst>
          </p:cNvPr>
          <p:cNvSpPr txBox="1"/>
          <p:nvPr/>
        </p:nvSpPr>
        <p:spPr>
          <a:xfrm>
            <a:off x="9514676" y="4491982"/>
            <a:ext cx="251235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dirty="0">
                <a:solidFill>
                  <a:srgbClr val="EF6C20"/>
                </a:solidFill>
                <a:latin typeface="Aptos"/>
              </a:rPr>
              <a:t>Team</a:t>
            </a:r>
            <a:r>
              <a:rPr lang="en-US" sz="1800" b="1" dirty="0">
                <a:solidFill>
                  <a:srgbClr val="EF6C20"/>
                </a:solidFill>
                <a:latin typeface="Aptos"/>
              </a:rPr>
              <a:t> members </a:t>
            </a:r>
            <a:r>
              <a:rPr sz="1800" b="1" dirty="0">
                <a:solidFill>
                  <a:srgbClr val="EF6C20"/>
                </a:solidFill>
                <a:latin typeface="Aptos"/>
              </a:rPr>
              <a:t>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525C5F-1717-0011-00F0-E094A6201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06" y="5372206"/>
            <a:ext cx="3313471" cy="121750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410388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dirty="0">
                <a:solidFill>
                  <a:srgbClr val="071E37"/>
                </a:solidFill>
                <a:latin typeface="Aptos"/>
              </a:rPr>
              <a:t>1.  Problem</a:t>
            </a:r>
            <a:r>
              <a:rPr lang="en-US" sz="3000" b="1" dirty="0">
                <a:solidFill>
                  <a:srgbClr val="071E37"/>
                </a:solidFill>
                <a:latin typeface="Aptos"/>
              </a:rPr>
              <a:t> statement </a:t>
            </a:r>
            <a:endParaRPr sz="3000" b="1" dirty="0">
              <a:solidFill>
                <a:srgbClr val="071E3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55F69"/>
                </a:solidFill>
                <a:latin typeface="Aptos"/>
              </a:rPr>
              <a:t>Introduce your team and define the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3226" y="2834222"/>
            <a:ext cx="39879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EF6C20"/>
                </a:solidFill>
                <a:latin typeface="Aptos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615" y="3276118"/>
            <a:ext cx="8253197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dirty="0">
                <a:solidFill>
                  <a:srgbClr val="555F69"/>
                </a:solidFill>
                <a:latin typeface="Aptos"/>
              </a:rPr>
              <a:t>[What real-world problem or opportunity are you addressing?]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3D Model 11" descr="Red Question mark">
                <a:extLst>
                  <a:ext uri="{FF2B5EF4-FFF2-40B4-BE49-F238E27FC236}">
                    <a16:creationId xmlns:a16="http://schemas.microsoft.com/office/drawing/2014/main" id="{AF3E56AA-2E77-39F2-E901-33D0B7B695C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85478830"/>
                  </p:ext>
                </p:extLst>
              </p:nvPr>
            </p:nvGraphicFramePr>
            <p:xfrm>
              <a:off x="8824793" y="832435"/>
              <a:ext cx="3045351" cy="493541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045351" cy="4935416"/>
                    </a:xfrm>
                    <a:prstGeom prst="rect">
                      <a:avLst/>
                    </a:prstGeom>
                  </am3d:spPr>
                  <am3d:camera>
                    <am3d:pos x="0" y="0" z="5538953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517042" d="1000000"/>
                    <am3d:preTrans dx="0" dy="-18004113" dz="-497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613261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3D Model 11" descr="Red Question mark">
                <a:extLst>
                  <a:ext uri="{FF2B5EF4-FFF2-40B4-BE49-F238E27FC236}">
                    <a16:creationId xmlns:a16="http://schemas.microsoft.com/office/drawing/2014/main" id="{AF3E56AA-2E77-39F2-E901-33D0B7B695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24793" y="832435"/>
                <a:ext cx="3045351" cy="493541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71E37"/>
                </a:solidFill>
                <a:latin typeface="Aptos"/>
              </a:rPr>
              <a:t>2. Problem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55F69"/>
                </a:solidFill>
                <a:latin typeface="Aptos"/>
              </a:rPr>
              <a:t>Show why the problem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3469" y="1981102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555F69"/>
                </a:solidFill>
                <a:latin typeface="Aptos"/>
              </a:defRPr>
            </a:pPr>
            <a:r>
              <a:rPr dirty="0"/>
              <a:t>• Who is affected by this problem?</a:t>
            </a:r>
          </a:p>
          <a:p>
            <a:pPr>
              <a:spcAft>
                <a:spcPts val="1000"/>
              </a:spcAft>
              <a:defRPr sz="2200">
                <a:solidFill>
                  <a:srgbClr val="555F69"/>
                </a:solidFill>
                <a:latin typeface="Aptos"/>
              </a:defRPr>
            </a:pPr>
            <a:r>
              <a:rPr dirty="0"/>
              <a:t>• What causes or contributes to the problem?</a:t>
            </a:r>
          </a:p>
          <a:p>
            <a:pPr>
              <a:spcAft>
                <a:spcPts val="1000"/>
              </a:spcAft>
              <a:defRPr sz="2200">
                <a:solidFill>
                  <a:srgbClr val="555F69"/>
                </a:solidFill>
                <a:latin typeface="Aptos"/>
              </a:defRPr>
            </a:pPr>
            <a:r>
              <a:rPr dirty="0"/>
              <a:t>• What happens if the problem is not addressed?</a:t>
            </a:r>
          </a:p>
          <a:p>
            <a:pPr>
              <a:spcAft>
                <a:spcPts val="1000"/>
              </a:spcAft>
              <a:defRPr sz="2200">
                <a:solidFill>
                  <a:srgbClr val="555F69"/>
                </a:solidFill>
                <a:latin typeface="Aptos"/>
              </a:defRPr>
            </a:pPr>
            <a:r>
              <a:rPr dirty="0"/>
              <a:t>• Evidence, observations, statistics, or user insights: [add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71E37"/>
                </a:solidFill>
                <a:latin typeface="Aptos"/>
              </a:rPr>
              <a:t>3.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55F69"/>
                </a:solidFill>
                <a:latin typeface="Aptos"/>
              </a:rPr>
              <a:t>Explain your idea in a simple, visual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F6C20"/>
                </a:solidFill>
                <a:latin typeface="Aptos"/>
              </a:rPr>
              <a:t>Solution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0">
                <a:solidFill>
                  <a:srgbClr val="555F69"/>
                </a:solidFill>
                <a:latin typeface="Aptos"/>
              </a:rPr>
              <a:t>[Describe your proposed solution in 3–5 clear points.]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619756"/>
            <a:ext cx="46634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14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218770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dirty="0">
                <a:solidFill>
                  <a:srgbClr val="EF6C20"/>
                </a:solidFill>
                <a:latin typeface="Aptos"/>
              </a:rPr>
              <a:t>Suggested Visual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1611" y="2971800"/>
            <a:ext cx="411317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dirty="0">
                <a:solidFill>
                  <a:srgbClr val="555F69"/>
                </a:solidFill>
                <a:latin typeface="Aptos"/>
              </a:rPr>
              <a:t>[Insert diagram / flowchart / sketch]</a:t>
            </a:r>
            <a:endParaRPr lang="en-US" sz="2000" b="0" dirty="0">
              <a:solidFill>
                <a:srgbClr val="555F69"/>
              </a:solidFill>
              <a:latin typeface="Aptos"/>
            </a:endParaRPr>
          </a:p>
          <a:p>
            <a:pPr algn="ctr"/>
            <a:endParaRPr lang="en-US" sz="2000" dirty="0">
              <a:solidFill>
                <a:srgbClr val="555F69"/>
              </a:solidFill>
              <a:latin typeface="Aptos"/>
            </a:endParaRPr>
          </a:p>
          <a:p>
            <a:r>
              <a:rPr lang="en-US" sz="2000" dirty="0">
                <a:solidFill>
                  <a:srgbClr val="555F69"/>
                </a:solidFill>
                <a:latin typeface="Aptos"/>
              </a:rPr>
              <a:t>*If available add them .</a:t>
            </a:r>
          </a:p>
          <a:p>
            <a:endParaRPr lang="en-US" sz="2000" dirty="0">
              <a:solidFill>
                <a:srgbClr val="555F6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71E37"/>
                </a:solidFill>
                <a:latin typeface="Aptos"/>
              </a:rPr>
              <a:t>4. Innovation &amp; Uniqueness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8643" y="3769483"/>
            <a:ext cx="7322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dirty="0">
                <a:solidFill>
                  <a:schemeClr val="bg2">
                    <a:lumMod val="10000"/>
                  </a:schemeClr>
                </a:solidFill>
                <a:latin typeface="Aptos"/>
              </a:rPr>
              <a:t>What makes your idea different</a:t>
            </a:r>
            <a:r>
              <a:rPr sz="4000" b="0" dirty="0">
                <a:solidFill>
                  <a:srgbClr val="555F69"/>
                </a:solidFill>
                <a:latin typeface="Aptos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8314157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555F69"/>
                </a:solidFill>
                <a:latin typeface="Aptos"/>
              </a:defRPr>
            </a:pPr>
            <a:r>
              <a:rPr dirty="0"/>
              <a:t>• What is new or innovative about the idea?</a:t>
            </a:r>
          </a:p>
          <a:p>
            <a:pPr>
              <a:spcAft>
                <a:spcPts val="1000"/>
              </a:spcAft>
              <a:defRPr sz="2300">
                <a:solidFill>
                  <a:srgbClr val="555F69"/>
                </a:solidFill>
                <a:latin typeface="Aptos"/>
              </a:defRPr>
            </a:pPr>
            <a:r>
              <a:rPr dirty="0"/>
              <a:t>• How is it different from existing approaches?</a:t>
            </a:r>
          </a:p>
          <a:p>
            <a:pPr>
              <a:spcAft>
                <a:spcPts val="1000"/>
              </a:spcAft>
              <a:defRPr sz="2300">
                <a:solidFill>
                  <a:srgbClr val="555F69"/>
                </a:solidFill>
                <a:latin typeface="Aptos"/>
              </a:defRPr>
            </a:pPr>
            <a:r>
              <a:rPr dirty="0"/>
              <a:t>• What key feature or insight gives it value?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4648"/>
            <a:ext cx="736175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EF6C20"/>
                </a:solidFill>
                <a:latin typeface="Aptos"/>
              </a:rPr>
              <a:t>Key Innovation</a:t>
            </a:r>
            <a:r>
              <a:rPr lang="en-US" sz="1800" b="1" dirty="0">
                <a:solidFill>
                  <a:srgbClr val="EF6C20"/>
                </a:solidFill>
                <a:latin typeface="Aptos"/>
              </a:rPr>
              <a:t>:</a:t>
            </a:r>
            <a:r>
              <a:rPr lang="en-US" sz="1800" b="1" dirty="0">
                <a:solidFill>
                  <a:srgbClr val="071E37"/>
                </a:solidFill>
                <a:latin typeface="Aptos"/>
              </a:rPr>
              <a:t> add </a:t>
            </a:r>
            <a:r>
              <a:rPr lang="en-US" b="1" dirty="0">
                <a:solidFill>
                  <a:srgbClr val="071E37"/>
                </a:solidFill>
                <a:latin typeface="Aptos"/>
              </a:rPr>
              <a:t>One-sentence statement of your core innovation</a:t>
            </a:r>
          </a:p>
          <a:p>
            <a:pPr algn="l"/>
            <a:endParaRPr sz="1800" b="1" dirty="0">
              <a:solidFill>
                <a:srgbClr val="EF6C2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71E37"/>
                </a:solidFill>
                <a:latin typeface="Aptos"/>
              </a:rPr>
              <a:t>5. Feasibility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55F69"/>
                </a:solidFill>
                <a:latin typeface="Aptos"/>
              </a:rPr>
              <a:t>Show that the idea can realistically be implemented.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5146" y="2145296"/>
            <a:ext cx="1069848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555F69"/>
                </a:solidFill>
                <a:latin typeface="Aptos"/>
              </a:defRPr>
            </a:pPr>
            <a:r>
              <a:rPr dirty="0"/>
              <a:t>• Technology / resources required</a:t>
            </a:r>
            <a:endParaRPr lang="en-US" dirty="0"/>
          </a:p>
          <a:p>
            <a:pPr>
              <a:spcAft>
                <a:spcPts val="1000"/>
              </a:spcAft>
              <a:defRPr sz="2100">
                <a:solidFill>
                  <a:srgbClr val="555F69"/>
                </a:solidFill>
                <a:latin typeface="Aptos"/>
              </a:defRPr>
            </a:pPr>
            <a:r>
              <a:rPr dirty="0"/>
              <a:t>• Implementation steps:</a:t>
            </a:r>
          </a:p>
          <a:p>
            <a:pPr>
              <a:spcAft>
                <a:spcPts val="1000"/>
              </a:spcAft>
              <a:defRPr sz="2100">
                <a:solidFill>
                  <a:srgbClr val="555F69"/>
                </a:solidFill>
                <a:latin typeface="Aptos"/>
              </a:defRPr>
            </a:pPr>
            <a:r>
              <a:rPr dirty="0"/>
              <a:t>• Potential challenges and how you would address them</a:t>
            </a:r>
          </a:p>
          <a:p>
            <a:pPr>
              <a:spcAft>
                <a:spcPts val="1000"/>
              </a:spcAft>
              <a:defRPr sz="2100">
                <a:solidFill>
                  <a:srgbClr val="555F69"/>
                </a:solidFill>
                <a:latin typeface="Aptos"/>
              </a:defRPr>
            </a:pPr>
            <a:r>
              <a:rPr dirty="0"/>
              <a:t>• Estimated users, scale, or deployment environment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71E37"/>
                </a:solidFill>
                <a:latin typeface="Aptos"/>
              </a:rPr>
              <a:t>6. Expected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55F69"/>
                </a:solidFill>
                <a:latin typeface="Aptos"/>
              </a:rPr>
              <a:t>Explain the value your solution can create.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655" y="1797779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555F69"/>
                </a:solidFill>
                <a:latin typeface="Aptos"/>
              </a:defRPr>
            </a:pPr>
            <a:r>
              <a:rPr dirty="0"/>
              <a:t>• Who benefits from the solution?</a:t>
            </a:r>
          </a:p>
          <a:p>
            <a:pPr>
              <a:spcAft>
                <a:spcPts val="1000"/>
              </a:spcAft>
              <a:defRPr sz="2200">
                <a:solidFill>
                  <a:srgbClr val="555F69"/>
                </a:solidFill>
                <a:latin typeface="Aptos"/>
              </a:defRPr>
            </a:pPr>
            <a:r>
              <a:rPr dirty="0"/>
              <a:t>• What measurable or practical improvement can it create?</a:t>
            </a:r>
          </a:p>
          <a:p>
            <a:pPr>
              <a:spcAft>
                <a:spcPts val="1000"/>
              </a:spcAft>
              <a:defRPr sz="2200">
                <a:solidFill>
                  <a:srgbClr val="555F69"/>
                </a:solidFill>
                <a:latin typeface="Aptos"/>
              </a:defRPr>
            </a:pPr>
            <a:r>
              <a:rPr dirty="0"/>
              <a:t>• Social, economic, environmental, or technological impact</a:t>
            </a:r>
          </a:p>
          <a:p>
            <a:pPr>
              <a:spcAft>
                <a:spcPts val="1000"/>
              </a:spcAft>
              <a:defRPr sz="2200">
                <a:solidFill>
                  <a:srgbClr val="555F69"/>
                </a:solidFill>
                <a:latin typeface="Aptos"/>
              </a:defRPr>
            </a:pPr>
            <a:r>
              <a:rPr dirty="0"/>
              <a:t>• Long-term potential / scalability: [add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609339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71E37"/>
                </a:solidFill>
                <a:latin typeface="Arial Black" panose="020B0A04020102020204" pitchFamily="34" charset="0"/>
              </a:rPr>
              <a:t>7. 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8684" y="5797295"/>
            <a:ext cx="43073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b="0" dirty="0">
                <a:solidFill>
                  <a:srgbClr val="555F69"/>
                </a:solidFill>
                <a:latin typeface="Arial Black" panose="020B0A04020102020204" pitchFamily="34" charset="0"/>
              </a:rPr>
              <a:t>***** This an futuristic step …….</a:t>
            </a:r>
            <a:endParaRPr b="0" dirty="0">
              <a:solidFill>
                <a:srgbClr val="555F69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97280" y="1508760"/>
            <a:ext cx="97840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Black" panose="020B0A04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1581912"/>
            <a:ext cx="365420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71E37"/>
                </a:solidFill>
                <a:latin typeface="Arial Black" panose="020B0A04020102020204" pitchFamily="34" charset="0"/>
              </a:rPr>
              <a:t>1  Research 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331720"/>
            <a:ext cx="97840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2404872"/>
            <a:ext cx="37059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71E37"/>
                </a:solidFill>
                <a:latin typeface="Arial Black" panose="020B0A04020102020204" pitchFamily="34" charset="0"/>
              </a:rPr>
              <a:t>2  Design &amp; 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154680"/>
            <a:ext cx="97840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Black" panose="020B0A040201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3227832"/>
            <a:ext cx="244874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71E37"/>
                </a:solidFill>
                <a:latin typeface="Arial Black" panose="020B0A04020102020204" pitchFamily="34" charset="0"/>
              </a:rPr>
              <a:t>3  Testing / Pilot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977639"/>
            <a:ext cx="97840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Black" panose="020B0A040201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71600" y="4050791"/>
            <a:ext cx="219047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>
                <a:solidFill>
                  <a:srgbClr val="071E37"/>
                </a:solidFill>
                <a:latin typeface="Arial Black" panose="020B0A04020102020204" pitchFamily="34" charset="0"/>
              </a:rPr>
              <a:t>4  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800600"/>
            <a:ext cx="97840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4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Black" panose="020B0A040201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600" y="4873752"/>
            <a:ext cx="283911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71E37"/>
                </a:solidFill>
                <a:latin typeface="Arial Black" panose="020B0A04020102020204" pitchFamily="34" charset="0"/>
              </a:rPr>
              <a:t>5  Scale &amp; Improve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11901D-62D5-6936-EBA1-2A855B335E50}"/>
              </a:ext>
            </a:extLst>
          </p:cNvPr>
          <p:cNvSpPr txBox="1"/>
          <p:nvPr/>
        </p:nvSpPr>
        <p:spPr>
          <a:xfrm>
            <a:off x="774192" y="1203960"/>
            <a:ext cx="603299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dirty="0">
                <a:solidFill>
                  <a:srgbClr val="555F69"/>
                </a:solidFill>
                <a:latin typeface="Arial Black" panose="020B0A04020102020204" pitchFamily="34" charset="0"/>
              </a:rPr>
              <a:t>Show how the idea could move from concept to impact.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71E37"/>
                </a:solidFill>
                <a:latin typeface="Aptos"/>
              </a:rPr>
              <a:t>8.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55F69"/>
                </a:solidFill>
                <a:latin typeface="Aptos"/>
              </a:rPr>
              <a:t>End with a clear takeaway.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5613" y="1882815"/>
            <a:ext cx="68334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EF6C20"/>
                </a:solidFill>
                <a:latin typeface="Aptos"/>
              </a:rPr>
              <a:t>Your</a:t>
            </a:r>
            <a:r>
              <a:rPr sz="2000" b="1" dirty="0">
                <a:solidFill>
                  <a:srgbClr val="EF6C20"/>
                </a:solidFill>
                <a:latin typeface="Aptos"/>
              </a:rPr>
              <a:t> Idea in One Sentence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905826"/>
            <a:ext cx="95721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071E37"/>
                </a:solidFill>
                <a:latin typeface="Aptos"/>
              </a:rPr>
              <a:t>Summarize your solution and its expected impact in one strong sentence.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611B3-F691-D9C1-3FCC-A28872A80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C18266-7227-6330-7B57-5152753F5E93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12DCFD-6425-730C-9016-32FC4857499C}"/>
              </a:ext>
            </a:extLst>
          </p:cNvPr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7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3E5CB-FD3B-B3C8-0A07-5A1FBD506222}"/>
              </a:ext>
            </a:extLst>
          </p:cNvPr>
          <p:cNvSpPr txBox="1"/>
          <p:nvPr/>
        </p:nvSpPr>
        <p:spPr>
          <a:xfrm>
            <a:off x="663545" y="502920"/>
            <a:ext cx="5015284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rgbClr val="071E37"/>
                </a:solidFill>
                <a:latin typeface="Aptos"/>
              </a:rPr>
              <a:t>13</a:t>
            </a:r>
            <a:r>
              <a:rPr sz="3000" b="1" dirty="0">
                <a:solidFill>
                  <a:srgbClr val="071E37"/>
                </a:solidFill>
                <a:latin typeface="Aptos"/>
              </a:rPr>
              <a:t>. </a:t>
            </a:r>
            <a:r>
              <a:rPr lang="en-US" sz="3000" b="1" dirty="0">
                <a:solidFill>
                  <a:srgbClr val="071E37"/>
                </a:solidFill>
                <a:latin typeface="Aptos"/>
              </a:rPr>
              <a:t>Questions &amp; Discussion</a:t>
            </a:r>
          </a:p>
          <a:p>
            <a:pPr algn="l"/>
            <a:endParaRPr sz="3000" b="1" dirty="0">
              <a:solidFill>
                <a:srgbClr val="071E37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E9EEE7-25AD-8234-CA2A-F0EB37F5606C}"/>
              </a:ext>
            </a:extLst>
          </p:cNvPr>
          <p:cNvSpPr txBox="1"/>
          <p:nvPr/>
        </p:nvSpPr>
        <p:spPr>
          <a:xfrm>
            <a:off x="3322036" y="5401244"/>
            <a:ext cx="52641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dirty="0">
                <a:solidFill>
                  <a:srgbClr val="EF6C20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EBC6E6-CD26-6455-F5B6-A6E7ACE6D7B5}"/>
              </a:ext>
            </a:extLst>
          </p:cNvPr>
          <p:cNvSpPr txBox="1"/>
          <p:nvPr/>
        </p:nvSpPr>
        <p:spPr>
          <a:xfrm>
            <a:off x="6651807" y="6102286"/>
            <a:ext cx="58941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EF6C20"/>
                </a:solidFill>
                <a:latin typeface="Aptos"/>
              </a:rPr>
              <a:t>ALL THE BEST . DO WELLLL…. </a:t>
            </a:r>
          </a:p>
          <a:p>
            <a:pPr algn="ctr"/>
            <a:endParaRPr sz="3000" b="1" dirty="0">
              <a:solidFill>
                <a:srgbClr val="EF6C20"/>
              </a:solidFill>
              <a:latin typeface="Apto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3DA0FB-70BD-B6AE-F531-303A8274A62A}"/>
              </a:ext>
            </a:extLst>
          </p:cNvPr>
          <p:cNvSpPr txBox="1"/>
          <p:nvPr/>
        </p:nvSpPr>
        <p:spPr>
          <a:xfrm>
            <a:off x="1824584" y="1678063"/>
            <a:ext cx="770848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THE MAX SLIDE NO: IS 13</a:t>
            </a:r>
          </a:p>
          <a:p>
            <a:pPr algn="ctr"/>
            <a:endParaRPr lang="en-US" sz="3000" b="1" dirty="0">
              <a:solidFill>
                <a:schemeClr val="tx1">
                  <a:lumMod val="65000"/>
                  <a:lumOff val="35000"/>
                </a:schemeClr>
              </a:solidFill>
              <a:latin typeface="Aptos"/>
            </a:endParaRPr>
          </a:p>
          <a:p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START : </a:t>
            </a:r>
            <a:r>
              <a:rPr lang="en-US" sz="3000" b="1" dirty="0">
                <a:solidFill>
                  <a:srgbClr val="071E37"/>
                </a:solidFill>
                <a:latin typeface="Aptos"/>
              </a:rPr>
              <a:t>1.  Problem statement </a:t>
            </a:r>
          </a:p>
          <a:p>
            <a:endParaRPr lang="en-US" sz="3000" b="1" dirty="0">
              <a:solidFill>
                <a:schemeClr val="tx1">
                  <a:lumMod val="65000"/>
                  <a:lumOff val="35000"/>
                </a:schemeClr>
              </a:solidFill>
              <a:latin typeface="Aptos"/>
            </a:endParaRPr>
          </a:p>
          <a:p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END : </a:t>
            </a:r>
            <a:r>
              <a:rPr lang="en-US" sz="3000" b="1" dirty="0">
                <a:solidFill>
                  <a:srgbClr val="071E37"/>
                </a:solidFill>
                <a:latin typeface="Aptos"/>
              </a:rPr>
              <a:t>13. Questions &amp; Discussion</a:t>
            </a:r>
          </a:p>
          <a:p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 </a:t>
            </a:r>
          </a:p>
          <a:p>
            <a:pPr algn="ctr"/>
            <a:endParaRPr sz="3000" b="1" dirty="0">
              <a:solidFill>
                <a:schemeClr val="tx1">
                  <a:lumMod val="65000"/>
                  <a:lumOff val="35000"/>
                </a:schemeClr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03892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591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Hemanth Kumar GR</cp:lastModifiedBy>
  <cp:revision>10</cp:revision>
  <dcterms:created xsi:type="dcterms:W3CDTF">2013-01-27T09:14:16Z</dcterms:created>
  <dcterms:modified xsi:type="dcterms:W3CDTF">2026-09-25T07:35:12Z</dcterms:modified>
  <cp:category/>
</cp:coreProperties>
</file>