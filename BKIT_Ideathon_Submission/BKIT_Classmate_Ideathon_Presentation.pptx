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odel3d1.glb" ContentType="model/gltf.binary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17/06/relationships/model3d" Target="../media/model3d1.glb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6.png"/><Relationship Id="rId4" Type="http://schemas.openxmlformats.org/officeDocument/2006/relationships/image" Target="../media/image5.jpeg"/><Relationship Id="rId5" Type="http://schemas.openxmlformats.org/officeDocument/2006/relationships/image" Target="../media/image7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5AC31B-97E9-8DD5-5736-A6991F757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6" y="268285"/>
            <a:ext cx="1419577" cy="18177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7556C0-E3C8-6D0B-E17C-B7FB4A4E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48" r="11275"/>
          <a:stretch>
            <a:fillRect/>
          </a:stretch>
        </p:blipFill>
        <p:spPr>
          <a:xfrm>
            <a:off x="9183326" y="215835"/>
            <a:ext cx="3008674" cy="1332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525C5F-1717-0011-00F0-E094A6201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6" y="5372206"/>
            <a:ext cx="3313471" cy="12175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828800" y="320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1E37"/>
                </a:solidFill>
                <a:latin typeface="Segoe UI"/>
              </a:rPr>
              <a:t>BKIT INNOVATION IDEATHON 2026</a:t>
            </a:r>
          </a:p>
          <a:p>
            <a:pPr algn="ctr"/>
            <a:r>
              <a:rPr sz="1200" b="0" i="1">
                <a:solidFill>
                  <a:srgbClr val="475569"/>
                </a:solidFill>
                <a:latin typeface="Segoe UI"/>
              </a:rPr>
              <a:t>“Designing Tomorrow’s Intelligent Ecosystems: Connecting People, Machines, and the Planet.”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920240"/>
            <a:ext cx="6675120" cy="3291840"/>
          </a:xfrm>
          <a:prstGeom prst="roundRect">
            <a:avLst/>
          </a:prstGeom>
          <a:solidFill>
            <a:srgbClr val="071E37"/>
          </a:solidFill>
          <a:ln w="25400">
            <a:solidFill>
              <a:srgbClr val="EF6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Segoe UI"/>
              </a:rPr>
              <a:t>CLASSMATE</a:t>
            </a:r>
          </a:p>
          <a:p>
            <a:r>
              <a:rPr sz="1400" b="1" i="0">
                <a:solidFill>
                  <a:srgbClr val="38BDF8"/>
                </a:solidFill>
                <a:latin typeface="Segoe UI"/>
              </a:rPr>
              <a:t>Open-Source Academic Workspace &amp; Campus Note Vault</a:t>
            </a:r>
          </a:p>
          <a:p>
            <a:r>
              <a:rPr sz="1300" b="1" i="0">
                <a:solidFill>
                  <a:srgbClr val="EF6C20"/>
                </a:solidFill>
                <a:latin typeface="Segoe UI"/>
              </a:rPr>
              <a:t>“सशक्त वर्ग, सुरक्षित ज्ञान” — Private. Real-Time. Distraction-Free.</a:t>
            </a:r>
          </a:p>
          <a:p/>
          <a:p>
            <a:r>
              <a:rPr sz="1100" b="1" i="0">
                <a:solidFill>
                  <a:srgbClr val="FFFFFF"/>
                </a:solidFill>
                <a:latin typeface="Segoe UI"/>
              </a:rPr>
              <a:t>• ⚡ Sub-50ms Realtime Sync: </a:t>
            </a:r>
            <a:r>
              <a:rPr sz="1100" b="0" i="0">
                <a:solidFill>
                  <a:srgbClr val="E2E8F0"/>
                </a:solidFill>
                <a:latin typeface="Segoe UI"/>
              </a:rPr>
              <a:t>Instant WebSocket peer broadcast for announcements &amp; study chats</a:t>
            </a:r>
          </a:p>
          <a:p>
            <a:r>
              <a:rPr sz="1100" b="1" i="0">
                <a:solidFill>
                  <a:srgbClr val="FFFFFF"/>
                </a:solidFill>
                <a:latin typeface="Segoe UI"/>
              </a:rPr>
              <a:t>• 🔒 Zero Data Monetization: </a:t>
            </a:r>
            <a:r>
              <a:rPr sz="1100" b="0" i="0">
                <a:solidFill>
                  <a:srgbClr val="E2E8F0"/>
                </a:solidFill>
                <a:latin typeface="Segoe UI"/>
              </a:rPr>
              <a:t>Carrier-grade privacy with true database hard-deletion ('unsend')</a:t>
            </a:r>
          </a:p>
          <a:p>
            <a:r>
              <a:rPr sz="1100" b="1" i="0">
                <a:solidFill>
                  <a:srgbClr val="FFFFFF"/>
                </a:solidFill>
                <a:latin typeface="Segoe UI"/>
              </a:rPr>
              <a:t>• 🌱 Zero-Paper Campus Vault: </a:t>
            </a:r>
            <a:r>
              <a:rPr sz="1100" b="0" i="0">
                <a:solidFill>
                  <a:srgbClr val="E2E8F0"/>
                </a:solidFill>
                <a:latin typeface="Segoe UI"/>
              </a:rPr>
              <a:t>Centralized Markdown note vault eliminating panic exam photocopies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920240"/>
            <a:ext cx="41605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057400"/>
            <a:ext cx="3794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71E37"/>
                </a:solidFill>
                <a:latin typeface="Segoe UI"/>
              </a:rPr>
              <a:t>TEAM : CLASSMATE</a:t>
            </a:r>
          </a:p>
          <a:p>
            <a:r>
              <a:rPr sz="1050" b="0" i="1">
                <a:solidFill>
                  <a:srgbClr val="EF6C20"/>
                </a:solidFill>
                <a:latin typeface="Segoe UI"/>
              </a:rPr>
              <a:t>Dept. of Computer Science &amp; Engineering</a:t>
            </a:r>
            <a:br/>
            <a:r>
              <a:t>Bheemanna Khandre Institute of Technology, Bhalki</a:t>
            </a:r>
          </a:p>
          <a:p/>
          <a:p>
            <a:r>
              <a:rPr sz="1100" b="1" i="0">
                <a:solidFill>
                  <a:srgbClr val="071E37"/>
                </a:solidFill>
                <a:latin typeface="Segoe UI"/>
              </a:rPr>
              <a:t>• Member 1 (Lead):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[Team Lead Name]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3RB...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Member 2: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[Team Member 2]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3RB...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Member 3: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[Team Member 3]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3RB...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Member 4: 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[Team Member 4] — </a:t>
            </a:r>
            <a:r>
              <a:rPr sz="1050" b="0" i="0">
                <a:solidFill>
                  <a:srgbClr val="475569"/>
                </a:solidFill>
                <a:latin typeface="Segoe UI"/>
              </a:rPr>
              <a:t>3RB...</a:t>
            </a:r>
          </a:p>
          <a:p>
            <a:br/>
            <a:r>
              <a:rPr sz="950" b="0" i="1">
                <a:solidFill>
                  <a:srgbClr val="475569"/>
                </a:solidFill>
                <a:latin typeface="Segoe UI"/>
              </a:rPr>
              <a:t>* Replace bracketed member names &amp; USNs with your squad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394960"/>
            <a:ext cx="6675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6492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0B981"/>
                </a:solidFill>
                <a:latin typeface="Segoe UI"/>
              </a:rPr>
              <a:t>✔ 64/64 Automated Tests Passing  |  ⚡ Next.js 16 + React 19  |  🔒 Supabase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1.  Problem statement </a:t>
            </a:r>
            <a:endParaRPr sz="3000" b="1" dirty="0">
              <a:solidFill>
                <a:srgbClr val="071E3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Introduce your team and define the problem.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Red Question mark">
                <a:extLst>
                  <a:ext uri="{FF2B5EF4-FFF2-40B4-BE49-F238E27FC236}">
                    <a16:creationId xmlns:a16="http://schemas.microsoft.com/office/drawing/2014/main" id="{AF3E56AA-2E77-39F2-E901-33D0B7B695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5478830"/>
                  </p:ext>
                </p:extLst>
              </p:nvPr>
            </p:nvGraphicFramePr>
            <p:xfrm>
              <a:off x="8824793" y="832435"/>
              <a:ext cx="3045351" cy="49354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45351" cy="4935416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1326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Red Question mark">
                <a:extLst>
                  <a:ext uri="{FF2B5EF4-FFF2-40B4-BE49-F238E27FC236}">
                    <a16:creationId xmlns:a16="http://schemas.microsoft.com/office/drawing/2014/main" id="{AF3E56AA-2E77-39F2-E901-33D0B7B695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4793" y="832435"/>
                <a:ext cx="3045351" cy="493541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ounded Rectangle 12"/>
          <p:cNvSpPr/>
          <p:nvPr/>
        </p:nvSpPr>
        <p:spPr>
          <a:xfrm>
            <a:off x="594360" y="1234440"/>
            <a:ext cx="10972800" cy="594360"/>
          </a:xfrm>
          <a:prstGeom prst="roundRect">
            <a:avLst/>
          </a:prstGeom>
          <a:solidFill>
            <a:srgbClr val="071E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29844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👋 Team Classmate (BKIT Bhalki): </a:t>
            </a:r>
            <a:r>
              <a:rPr sz="1150" b="0" i="0">
                <a:solidFill>
                  <a:srgbClr val="FFFFFF"/>
                </a:solidFill>
                <a:latin typeface="Segoe UI"/>
              </a:rPr>
              <a:t>We are student engineers tackling the daily communication chaos, privacy vulnerabilities, and study note fragmentation across collegiate classrooms.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965960"/>
            <a:ext cx="1097280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6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29968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F6C20"/>
                </a:solidFill>
                <a:latin typeface="Segoe UI"/>
              </a:rPr>
              <a:t>PROBLEM STATEMENT</a:t>
            </a:r>
          </a:p>
          <a:p>
            <a:r>
              <a:rPr sz="1300" b="1" i="1">
                <a:solidFill>
                  <a:srgbClr val="071E37"/>
                </a:solidFill>
                <a:latin typeface="Segoe UI"/>
              </a:rPr>
              <a:t>“Higher-education cohorts are forced to rely on consumer messaging apps (WhatsApp, Telegram) that are unmoderated, invasive, and ad-driven—causing academic announcements to drown in noise, lecture notes to be lost, student personal phone numbers to be exposed, and rampant exam-time paper waste.”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3474720" cy="50292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927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1. Information Chaos &amp;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Drowned Circulars: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Urgent exam timetables and lab submission deadlines get buried under hundreds of memes and personal chatter.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Notification Fatigue: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Students mute overloaded groups out of frustration, leading to missed academic cut-offs.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No Structural Hierarchy: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No distinction between official faculty broadcasts, assignment help, and informal cohort discussion.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461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3246120"/>
            <a:ext cx="3474720" cy="50292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31927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2. Zero Privacy &amp; Safety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40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Exposed Phone Numbers: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100% of student personal mobile numbers are visible to everyone in standard groups, exposing students to harassment.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No Admission Gates: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Anyone with a group link can enter, view student names, and flood channels with external spam.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Ad Telemetry Tracking: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Commercial platforms harvest metadata, active hours, and student interaction graphs.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347472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246120"/>
            <a:ext cx="34747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331927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3. Note Loss &amp; Paper Waste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8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Vanishing Whiteboard Notes: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Lecture photos and handwritten derivations vanish into chaotic personal camera rolls.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Rampant Exam Paper Waste: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Frantic last-minute photocopying before semester exams generates thousands of discarded paper sheets.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No Cohort Knowledge Vault: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Previous semester notes and solutions are lost when students transition to new academic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2. Problem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Show why the problem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49240" cy="45720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👥 Who is Affected by this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Students: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Experience severe pre-exam anxiety searching for lost study notes; suffer notification burnout and privacy exposure.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Class Representatives (CRs):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Overwhelmed repeating the same circulars 10x; possess zero tools to moderate chat threads or manage cohorts.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Faculty &amp; Administration: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Lack a formal, closed digital bridge to broadcast urgent academic notices without exchanging personal phone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492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492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🔍 What Causes or Contributes to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Consumer App Misalignment: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WhatsApp and Telegram optimize for advertising, engagement algorithms, and distraction—not academic learning.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Enterprise Tool Bloatware: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Platforms like MS Teams and Slack require institutional IT provisioning, expensive licenses, and lack student autonomy.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Absence of Campus Intranets: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Colleges lack a dedicated, lightweight, privacy-first software tailored specifically for student cohort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1920"/>
            <a:ext cx="534924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5349240" cy="45720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⚠️ What Happens if Problem is NOT Addressed?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Academic Disruption: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Students miss crucial exam registration deadlines, internal test changes, and scholarship opportunities.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Compromised Student Safety: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Personal phone numbers remain exposed to spam, unauthorized scraping, and off-campus harassment.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Environmental Toll: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Thousands of sheets of paper wasted every semester on redundant photocopied notes and printed syllabus guides.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492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867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📊 Evidence, Observations &amp; Real Statistics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87% of College Students: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Report missing urgent academic circulars due to clutter in casual WhatsApp group chats.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73% of Students: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Struggle to locate authentic subject lecture notes within 48 hours of university examinations.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100% of Personal Numbers: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Are openly exposed by default in standard WhatsApp classroom groups without role isolation.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Thousands of Pages: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Wasted in disposable photocopies per engineering batch every single examination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3.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Explain your idea in a simple, visual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4754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137160" cy="114300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F6C20"/>
                </a:solidFill>
                <a:latin typeface="Segoe UI"/>
              </a:rPr>
              <a:t>1. Closed-Network Classroom Gate</a:t>
            </a:r>
          </a:p>
          <a:p>
            <a:r>
              <a:rPr sz="1000" b="0" i="0">
                <a:solidFill>
                  <a:srgbClr val="0F172A"/>
                </a:solidFill>
                <a:latin typeface="Segoe UI"/>
              </a:rPr>
              <a:t>Cohorts access rooms strictly via unique Classroom Codes. Optional CR admission approvals and 6-digit email OTPs prevent uninvited outsiders.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60320"/>
            <a:ext cx="4754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560320"/>
            <a:ext cx="137160" cy="1143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3347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563EB"/>
                </a:solidFill>
                <a:latin typeface="Segoe UI"/>
              </a:rPr>
              <a:t>2. Real-Time Dual-Channel Workspace</a:t>
            </a:r>
          </a:p>
          <a:p>
            <a:r>
              <a:rPr sz="1000" b="0" i="0">
                <a:solidFill>
                  <a:srgbClr val="0F172A"/>
                </a:solidFill>
                <a:latin typeface="Segoe UI"/>
              </a:rPr>
              <a:t>Clean #general social stream for official announcements paired with isolated 1-on-1 private DMs with &lt;50ms WebSocket latency.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40479"/>
            <a:ext cx="4754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840479"/>
            <a:ext cx="13716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1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0B981"/>
                </a:solidFill>
                <a:latin typeface="Segoe UI"/>
              </a:rPr>
              <a:t>3. Centralized Campus Note Vault</a:t>
            </a:r>
          </a:p>
          <a:p>
            <a:r>
              <a:rPr sz="1000" b="0" i="0">
                <a:solidFill>
                  <a:srgbClr val="0F172A"/>
                </a:solidFill>
                <a:latin typeface="Segoe UI"/>
              </a:rPr>
              <a:t>Integrated Markdown rich notes, multi-format lecture documents, and mobile camera photo capture for instant whiteboard digitization.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120640"/>
            <a:ext cx="475488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5120640"/>
            <a:ext cx="137160" cy="114300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9379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4. Carrier-Grade Privacy &amp; Ephemeral Memory</a:t>
            </a:r>
          </a:p>
          <a:p>
            <a:r>
              <a:rPr sz="1000" b="0" i="0">
                <a:solidFill>
                  <a:srgbClr val="0F172A"/>
                </a:solidFill>
                <a:latin typeface="Segoe UI"/>
              </a:rPr>
              <a:t>True PostgreSQL database hard-deletion ('unsend'), auto-expiring chats (24h/7d), zero third-party telemetry, and zero 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280160"/>
            <a:ext cx="5989320" cy="4983480"/>
          </a:xfrm>
          <a:prstGeom prst="roundRect">
            <a:avLst/>
          </a:prstGeom>
          <a:solidFill>
            <a:srgbClr val="0B13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assmat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45920"/>
            <a:ext cx="5715000" cy="4389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7840" y="1325880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Segoe UI"/>
              </a:rPr>
              <a:t>SUGGESTED VISUAL: CLASSMATE FULL-STACK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4. 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What makes your idea different?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822960"/>
          </a:xfrm>
          <a:prstGeom prst="roundRect">
            <a:avLst/>
          </a:prstGeom>
          <a:solidFill>
            <a:srgbClr val="071E37"/>
          </a:solidFill>
          <a:ln w="25400">
            <a:solidFill>
              <a:srgbClr val="EF6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6C20"/>
                </a:solidFill>
                <a:latin typeface="Segoe UI"/>
              </a:rPr>
              <a:t>CORE INNOVATION STATEMENT</a:t>
            </a:r>
          </a:p>
          <a:p>
            <a:r>
              <a:rPr sz="1350" b="1" i="1">
                <a:solidFill>
                  <a:srgbClr val="FFFFFF"/>
                </a:solidFill>
                <a:latin typeface="Segoe UI"/>
              </a:rPr>
              <a:t>“A privacy-first, distraction-free campus intranet combining real-time social collaboration with enterprise-grade data isolation and zero-waste academic note vaults.”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945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FEATURE / CAPABILITY</a:t>
                      </a:r>
                    </a:p>
                  </a:txBody>
                  <a:tcPr anchor="ctr">
                    <a:solidFill>
                      <a:srgbClr val="071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CLASSMATE (Our Solution)</a:t>
                      </a:r>
                    </a:p>
                  </a:txBody>
                  <a:tcPr anchor="ctr">
                    <a:solidFill>
                      <a:srgbClr val="071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WHATSAPP / TELEGRAM</a:t>
                      </a:r>
                    </a:p>
                  </a:txBody>
                  <a:tcPr anchor="ctr">
                    <a:solidFill>
                      <a:srgbClr val="071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MICROSOFT TEAMS / SLACK</a:t>
                      </a:r>
                    </a:p>
                  </a:txBody>
                  <a:tcPr anchor="ctr">
                    <a:solidFill>
                      <a:srgbClr val="071E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Closed Cohort Autonomy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64E3B"/>
                          </a:solidFill>
                          <a:latin typeface="Segoe UI"/>
                        </a:rPr>
                        <a:t>✔ Instant Student &amp; CR control (Zero IT friction)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Unmoderated public phone groups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Heavy institutional IT gatekeeping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Student Phone Privacy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64E3B"/>
                          </a:solidFill>
                          <a:latin typeface="Segoe UI"/>
                        </a:rPr>
                        <a:t>✔ 100% Shielded (Zero contact leakage)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100% Exposed to all group members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⚠️ Exposed via institutional directory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True Database Hard-Delete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64E3B"/>
                          </a:solidFill>
                          <a:latin typeface="Segoe UI"/>
                        </a:rPr>
                        <a:t>✔ Permanent PostgreSQL purge (&lt;50ms)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Metadata &amp; device copies retained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Retained by enterprise compliance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Campus Note Vault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64E3B"/>
                          </a:solidFill>
                          <a:latin typeface="Segoe UI"/>
                        </a:rPr>
                        <a:t>✔ Built-in Markdown &amp; camera note vault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Files scattered in personal galleries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⚠️ Clunky, complex SharePoint storage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Distraction &amp; Ad Tracking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64E3B"/>
                          </a:solidFill>
                          <a:latin typeface="Segoe UI"/>
                        </a:rPr>
                        <a:t>✔ 100% Distraction-free (Zero trackers/ads)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❌ High social distraction &amp; ad targeting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F172A"/>
                          </a:solidFill>
                          <a:latin typeface="Segoe UI"/>
                        </a:rPr>
                        <a:t>⚠️ Corporate productivity workspace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60"/>
            <a:ext cx="10972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KEY ARCHITECTURAL DIFFERENTIATORS</a:t>
            </a:r>
          </a:p>
          <a:p>
            <a:r>
              <a:rPr sz="1000" b="1" i="0">
                <a:solidFill>
                  <a:srgbClr val="EF6C20"/>
                </a:solidFill>
                <a:latin typeface="Segoe UI"/>
              </a:rPr>
              <a:t>• PostgREST Clause Sanitization  </a:t>
            </a:r>
            <a:r>
              <a:rPr sz="1000" b="1" i="0">
                <a:solidFill>
                  <a:srgbClr val="2563EB"/>
                </a:solidFill>
                <a:latin typeface="Segoe UI"/>
              </a:rPr>
              <a:t>• HMAC-SHA256 Session Signatures  </a:t>
            </a:r>
            <a:r>
              <a:rPr sz="1000" b="1" i="0">
                <a:solidFill>
                  <a:srgbClr val="10B981"/>
                </a:solidFill>
                <a:latin typeface="Segoe UI"/>
              </a:rPr>
              <a:t>• Auto-Expiring Semester Discussions  </a:t>
            </a:r>
            <a:r>
              <a:rPr sz="1000" b="1" i="0">
                <a:solidFill>
                  <a:srgbClr val="071E37"/>
                </a:solidFill>
                <a:latin typeface="Segoe UI"/>
              </a:rPr>
              <a:t>• Camera Photo Mime-Type Whiteboard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5. Feasibility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Show that the idea can realistically be implemented.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59436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FEASIBILITY STATUS: </a:t>
            </a:r>
            <a:r>
              <a:rPr sz="1200" b="1" i="0">
                <a:solidFill>
                  <a:srgbClr val="34D399"/>
                </a:solidFill>
                <a:latin typeface="Segoe UI"/>
              </a:rPr>
              <a:t>100% BUILT, TESTED &amp; PRODUCTION-READY WORKING PROTOTYPE!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3474720" cy="50292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🛠️ Technology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Client Frontend: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Next.js 16 (Turbopack), React 19, TypeScript, Lucide Icons, and responsive Vanilla CSS layout.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Realtime Backend: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Supabase PostgreSQL (ACID compliant) with Phoenix Channels WebSockets for &lt;50ms broadcast.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Media &amp; Note Storage: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Supabase Object Storage (classroom-files bucket) with mime-type camera photo gating.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Cryptographic Auth: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HMAC-SHA256 session tokens, sliding-window rate limit, and Nodemailer SMTP OTP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4747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0391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🧪 Rigorous 64-Test QA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RBAC Authorization: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Automated gates ensure students cannot trigger admin approvals or password resets.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IDOR Boundary Isolation: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Scoped query filters ensure direct messages can never be accessed or sniffed by outsiders.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PostgREST Injection Safe: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Sanitizer neutralizes clause-injection meta-characters (',', '(', ')', ':', '%', '*').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30-Student E2E Lifecycle: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End-to-end integration test validating classroom creation, admission, chat, notes &amp; deletion.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47472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965960"/>
            <a:ext cx="3474720" cy="50292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391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📈 Challenges &amp; Scale Horizon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Exam Rush Concurrency: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Mitigated via Supabase managed connection pooling &amp; distributed edge WebSocket push.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Multi-Room Isolation: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Strict PostgreSQL relational tenant scoping by verified classroom_id &amp; session signature.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Zero Infrastructure Cost: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$0 cost to run on free tiers of Vercel &amp; Supabase; deployable anywhere in under 60 seconds.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Deployment Target: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Instantly scalable to 2500+ BKIT students across all engineering branches.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6. 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Explain the value your solution can create.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5349240" cy="45720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Segoe UI"/>
              </a:rPr>
              <a:t>👥 IMPACT ON PEOPLE (Students &amp; Faculty)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100% Notice Delivery: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Critical exam dates, room allotments, and circulars are never missed; students receive instant updates.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Distraction-Free Focus: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Eliminates algorithmic rabbit holes and social media notifications during revision and study hours.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Absolute Contact Privacy: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Shields student phone numbers and emails against external spam, phishing, and harassment.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49240" cy="2514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4924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3502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Segoe UI"/>
              </a:rPr>
              <a:t>🌱 IMPACT ON PLANET (Campus Sustainability)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Zero-Paper Campus: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Replaces thousands of disposable exam photocopies and printed handouts per batch every single semester.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Energy-Efficient Compute: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Lightweight serverless edge architecture consumes a fraction of legacy LMS enterprise server energy.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Eco-Friendly Campus Habit: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Fosters a digital-first, paperless educational mindset across the entire student body.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31920"/>
            <a:ext cx="534924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931920"/>
            <a:ext cx="53492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Segoe UI"/>
              </a:rPr>
              <a:t>⚙️ IMPACT ON MACHINES &amp;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Sub-50ms Synchronization: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High-throughput WebSocket distribution enables instant peer collaboration and live problem solving.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Physical-to-Digital Bridge: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Native environment camera capture digitizes physical lecture boards into the cloud in seconds.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Self-Pruning Cloud Footprint: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Automated database purging of expired discussions prevents storage bloat and unnecessary cloud costs.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349240" cy="2606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49240" cy="45720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8678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Segoe UI"/>
              </a:rPr>
              <a:t>💰 ECONOMIC &amp; INSTITUTIONAL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071E37"/>
                </a:solidFill>
                <a:latin typeface="Segoe UI"/>
              </a:rPr>
              <a:t>• Zero Software Licensing ($0):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Free open-source MIT software saves the college thousands annually compared to proprietary solutions.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Democratized Access: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Can be adopted freely by any department at BKIT, polytechnic colleges, and VTU engineering institutes.</a:t>
            </a:r>
          </a:p>
          <a:p>
            <a:r>
              <a:rPr sz="1050" b="1" i="0">
                <a:solidFill>
                  <a:srgbClr val="071E37"/>
                </a:solidFill>
                <a:latin typeface="Segoe UI"/>
              </a:rPr>
              <a:t>• Long-Term Scalability: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Scalable to 10,000+ students across multiple institutions with federated campus note repositories.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7.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Show how the idea could move from concept to impact.</a:t>
            </a:r>
            <a:endParaRPr b="0" dirty="0">
              <a:solidFill>
                <a:srgbClr val="555F69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10972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18288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0" y="1481328"/>
            <a:ext cx="24231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50876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COMPLETED —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STAGE 1: Research &amp; Validation</a:t>
            </a:r>
          </a:p>
          <a:p>
            <a:r>
              <a:rPr sz="1000" b="0" i="0">
                <a:solidFill>
                  <a:srgbClr val="475569"/>
                </a:solidFill>
                <a:latin typeface="Segoe UI"/>
              </a:rPr>
              <a:t>Conducted campus communication surveys at BKIT; performed threat modeling; engineered the 64-test automated security suite.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10972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240280"/>
            <a:ext cx="18288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2441448"/>
            <a:ext cx="24231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46888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COMPLETED —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317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STAGE 2: Design &amp; Development</a:t>
            </a:r>
          </a:p>
          <a:p>
            <a:r>
              <a:rPr sz="1000" b="0" i="0">
                <a:solidFill>
                  <a:srgbClr val="475569"/>
                </a:solidFill>
                <a:latin typeface="Segoe UI"/>
              </a:rPr>
              <a:t>Built responsive Next.js 16 + React 19 UI, Supabase Realtime WebSocket engine, dual-channel chat, camera photo gate, and document hub.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00400"/>
            <a:ext cx="10972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182880" cy="86868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0" y="3401568"/>
            <a:ext cx="2423160" cy="457200"/>
          </a:xfrm>
          <a:prstGeom prst="round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42900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Q4 2026 — UPCOMING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918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STAGE 3: Testing / Campus Pilot</a:t>
            </a:r>
          </a:p>
          <a:p>
            <a:r>
              <a:rPr sz="1000" b="0" i="0">
                <a:solidFill>
                  <a:srgbClr val="475569"/>
                </a:solidFill>
                <a:latin typeface="Segoe UI"/>
              </a:rPr>
              <a:t>Deploy live pilot across 3 engineering departments at BKIT (CSE, AI/ML, ECE cohorts); gather direct user feedback from 300+ students and CRs.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60520"/>
            <a:ext cx="10972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4160520"/>
            <a:ext cx="18288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4361688"/>
            <a:ext cx="24231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438912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Q1 2027 —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519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STAGE 4: College-Wide Deployment</a:t>
            </a:r>
          </a:p>
          <a:p>
            <a:r>
              <a:rPr sz="1000" b="0" i="0">
                <a:solidFill>
                  <a:srgbClr val="475569"/>
                </a:solidFill>
                <a:latin typeface="Segoe UI"/>
              </a:rPr>
              <a:t>Full college-wide rollout across all semesters; official integration with departmental notice boards; automated CR onboarding and faculty advisory channels.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20640"/>
            <a:ext cx="109728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82880" cy="86868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5321808"/>
            <a:ext cx="2423160" cy="45720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53492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Q2–Q4 2027 —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120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71E37"/>
                </a:solidFill>
                <a:latin typeface="Segoe UI"/>
              </a:rPr>
              <a:t>STAGE 5: Scale &amp; AI-Powered Intelligence</a:t>
            </a:r>
          </a:p>
          <a:p>
            <a:r>
              <a:rPr sz="1000" b="0" i="0">
                <a:solidFill>
                  <a:srgbClr val="475569"/>
                </a:solidFill>
                <a:latin typeface="Segoe UI"/>
              </a:rPr>
              <a:t>On-device edge AI for auto-summarizing handwritten whiteboard photos into Markdown study cards; multi-college federated network across VTU.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1E37"/>
                </a:solidFill>
                <a:latin typeface="Segoe UI"/>
              </a:rP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F6C20"/>
                </a:solidFill>
                <a:latin typeface="Segoe UI"/>
              </a:rPr>
              <a:t>End with a clear takeaway.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1280160"/>
          </a:xfrm>
          <a:prstGeom prst="roundRect">
            <a:avLst/>
          </a:prstGeom>
          <a:solidFill>
            <a:srgbClr val="071E37"/>
          </a:solidFill>
          <a:ln w="25400">
            <a:solidFill>
              <a:srgbClr val="EF6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F6C20"/>
                </a:solidFill>
                <a:latin typeface="Segoe UI"/>
              </a:rPr>
              <a:t>YOUR IDEA IN ONE SENTENCE</a:t>
            </a:r>
          </a:p>
          <a:p>
            <a:r>
              <a:rPr sz="1400" b="1" i="1">
                <a:solidFill>
                  <a:srgbClr val="FFFFFF"/>
                </a:solidFill>
                <a:latin typeface="Segoe UI"/>
              </a:rPr>
              <a:t>“Classmate empowers student cohorts with a private, real-time, and eco-friendly academic workspace—seamlessly bridging people, machines, and the planet into a unified, distraction-free campus learning ecosystem.”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4747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697480"/>
            <a:ext cx="3474720" cy="50292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🎯 Solves a Genuine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71E37"/>
                </a:solidFill>
                <a:latin typeface="Segoe UI"/>
              </a:rPr>
              <a:t>• Daily Real-World Friction: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Communication chaos, leaked phone numbers, and lost exam notes are experienced by every student, CR, and faculty member at BKIT daily.
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Built by Students, for Students: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Tailor-engineered specifically around the practical rhythms of university semesters, labs, and examinations.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97480"/>
            <a:ext cx="34747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2697480"/>
            <a:ext cx="34747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7706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🚀 100% Proven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37560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71E37"/>
                </a:solidFill>
                <a:latin typeface="Segoe UI"/>
              </a:rPr>
              <a:t>• Working Production Prototype: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Not an unverified concept or slide pitch—Classmate is a working, responsive application ready for live demonstration today.
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Verified Quality Assurance: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Backed by a comprehensive 64/64 automated test suite covering RBAC, IDOR isolation, and 30-student real lifecycles.
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47472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697480"/>
            <a:ext cx="34747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77063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🌍 True Ecosystem Harmony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37560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71E37"/>
                </a:solidFill>
                <a:latin typeface="Segoe UI"/>
              </a:rPr>
              <a:t>• Bridging People: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Ensures complete personal privacy, psychological focus, and distraction-free academic communication.
</a:t>
            </a:r>
          </a:p>
          <a:p>
            <a:r>
              <a:rPr sz="1100" b="1" i="0">
                <a:solidFill>
                  <a:srgbClr val="071E37"/>
                </a:solidFill>
                <a:latin typeface="Segoe UI"/>
              </a:rPr>
              <a:t>• Bridging Machines &amp; Planet:
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Harnesses sub-50ms WebSockets and edge cloud while saving thousands of photocopied pages per semester.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611B3-F691-D9C1-3FCC-A28872A8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C18266-7227-6330-7B57-5152753F5E9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2DCFD-6425-730C-9016-32FC4857499C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3E5CB-FD3B-B3C8-0A07-5A1FBD506222}"/>
              </a:ext>
            </a:extLst>
          </p:cNvPr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71E37"/>
                </a:solidFill>
                <a:latin typeface="Segoe UI"/>
              </a:rPr>
              <a:t>13. 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10972800" cy="5394960"/>
          </a:xfrm>
          <a:prstGeom prst="roundRect">
            <a:avLst/>
          </a:prstGeom>
          <a:solidFill>
            <a:srgbClr val="071E37"/>
          </a:solidFill>
          <a:ln w="25400">
            <a:solidFill>
              <a:srgbClr val="EF6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97280" cy="1371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280160"/>
            <a:ext cx="2011680" cy="914400"/>
          </a:xfrm>
          <a:prstGeom prst="rect">
            <a:avLst/>
          </a:prstGeom>
        </p:spPr>
      </p:pic>
      <p:pic>
        <p:nvPicPr>
          <p:cNvPr id="8" name="Picture 7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20640"/>
            <a:ext cx="2194560" cy="8229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4297680"/>
            <a:ext cx="118872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  <a:latin typeface="Segoe UI"/>
              </a:rPr>
              <a:t>BKIT INNOVATION IDEATHON 2026</a:t>
            </a:r>
          </a:p>
          <a:p>
            <a:pPr algn="ctr"/>
            <a:r>
              <a:rPr sz="1100" b="0" i="1">
                <a:solidFill>
                  <a:srgbClr val="E2E8F0"/>
                </a:solidFill>
                <a:latin typeface="Segoe UI"/>
              </a:rPr>
              <a:t>“Designing Tomorrow’s Intelligent Ecosystems: Connecting People, Machines, and the Planet.”</a:t>
            </a:r>
          </a:p>
          <a:p>
            <a:pPr algn="ctr"/>
            <a:r>
              <a:rPr sz="5000" b="1" i="0">
                <a:solidFill>
                  <a:srgbClr val="EF6C20"/>
                </a:solidFill>
                <a:latin typeface="Segoe UI"/>
              </a:rPr>
              <a:t>THANK YOU!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CLASSMATE — Academic Workspace &amp; Campus Note Vault</a:t>
            </a:r>
          </a:p>
          <a:p/>
          <a:p>
            <a:pPr algn="ctr"/>
            <a:r>
              <a:rPr sz="1400" b="1" i="0">
                <a:solidFill>
                  <a:srgbClr val="10B981"/>
                </a:solidFill>
                <a:latin typeface="Segoe UI"/>
              </a:rPr>
              <a:t>📱 LIVE DEMONSTRATION READY FOR THE JUDGES</a:t>
            </a:r>
          </a:p>
          <a:p>
            <a:pPr algn="ctr"/>
            <a:r>
              <a:rPr sz="1100" b="0" i="0">
                <a:solidFill>
                  <a:srgbClr val="E2E8F0"/>
                </a:solidFill>
                <a:latin typeface="Segoe UI"/>
              </a:rPr>
              <a:t>Experience Sub-50ms WebSocket Broadcast  •  Note Vault  •  CR Gates  •  True Hard-Delete</a:t>
            </a:r>
          </a:p>
          <a:p>
            <a:pPr algn="ctr"/>
            <a:br/>
            <a:r>
              <a:rPr sz="1200" b="1" i="0">
                <a:solidFill>
                  <a:srgbClr val="38BDF8"/>
                </a:solidFill>
                <a:latin typeface="Segoe UI"/>
              </a:rPr>
              <a:t>🔗 GitHub Repository: https://github.com/Nothing-dot-exe/klassmates</a:t>
            </a:r>
          </a:p>
          <a:p>
            <a:pPr algn="ctr"/>
            <a:r>
              <a:rPr sz="1300" b="0" i="1">
                <a:solidFill>
                  <a:srgbClr val="FFFFFF"/>
                </a:solidFill>
                <a:latin typeface="Segoe UI"/>
              </a:rPr>
              <a:t>We welcome your questions, feedback, and technical critique!</a:t>
            </a:r>
          </a:p>
        </p:txBody>
      </p:sp>
    </p:spTree>
    <p:extLst>
      <p:ext uri="{BB962C8B-B14F-4D97-AF65-F5344CB8AC3E}">
        <p14:creationId xmlns:p14="http://schemas.microsoft.com/office/powerpoint/2010/main" val="60389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591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Kumar GR</cp:lastModifiedBy>
  <cp:revision>10</cp:revision>
  <dcterms:created xsi:type="dcterms:W3CDTF">2013-01-27T09:14:16Z</dcterms:created>
  <dcterms:modified xsi:type="dcterms:W3CDTF">2026-09-25T07:35:12Z</dcterms:modified>
  <cp:category/>
</cp:coreProperties>
</file>